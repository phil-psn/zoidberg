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5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07E"/>
    <a:srgbClr val="1965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29BEE-E9AC-894E-A681-F8F985A59607}" v="15" dt="2025-03-24T09:24:59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8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344" y="176"/>
      </p:cViewPr>
      <p:guideLst>
        <p:guide pos="3840"/>
        <p:guide orient="horz" pos="25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1D0C3-7832-4756-AD2A-03C24D69B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575239"/>
            <a:ext cx="6499123" cy="170187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61E47A-946B-48F0-9C32-73291C307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305423"/>
            <a:ext cx="6499123" cy="1030974"/>
          </a:xfrm>
        </p:spPr>
        <p:txBody>
          <a:bodyPr>
            <a:normAutofit/>
          </a:bodyPr>
          <a:lstStyle>
            <a:lvl1pPr marL="0" indent="0" algn="l">
              <a:buNone/>
              <a:defRPr sz="2000" b="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0AA9BF-95D9-46AE-8DA1-97EC1C90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76043"/>
            <a:ext cx="11887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Nasalization Rg" panose="020B0604020202020204" pitchFamily="34" charset="0"/>
              </a:defRPr>
            </a:lvl1pPr>
          </a:lstStyle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482B2901-A2F1-5347-3D74-17E15DFD3F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" y="-52784"/>
            <a:ext cx="61595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1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B45DF7-437F-4CCC-992D-B28E01E4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352"/>
            <a:ext cx="10515600" cy="157807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F17DF1-9E4D-4A72-9E26-9A93C7ED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488428"/>
            <a:ext cx="10515600" cy="1253154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5C2F7-9B67-40DD-A718-7ED48502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99" y="6377374"/>
            <a:ext cx="11887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Nasalization Rg" panose="020B0604020202020204" pitchFamily="34" charset="0"/>
              </a:defRPr>
            </a:lvl1pPr>
          </a:lstStyle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dirty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EF0288F1-4001-6DF8-B911-640AD451D0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54158" y="0"/>
            <a:ext cx="163784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5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invertébré, nuit&#10;&#10;Description générée automatiquement">
            <a:extLst>
              <a:ext uri="{FF2B5EF4-FFF2-40B4-BE49-F238E27FC236}">
                <a16:creationId xmlns:a16="http://schemas.microsoft.com/office/drawing/2014/main" id="{52BC96B1-2730-0606-E509-C7FF1B71FB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2" b="-1842"/>
          <a:stretch/>
        </p:blipFill>
        <p:spPr>
          <a:xfrm>
            <a:off x="0" y="0"/>
            <a:ext cx="13308049" cy="698672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AB45DF7-437F-4CCC-992D-B28E01E4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352"/>
            <a:ext cx="10515600" cy="157807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F17DF1-9E4D-4A72-9E26-9A93C7ED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488428"/>
            <a:ext cx="10515600" cy="1253154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5C2F7-9B67-40DD-A718-7ED48502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99" y="6377374"/>
            <a:ext cx="11887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Nasalization Rg" panose="020B0604020202020204" pitchFamily="34" charset="0"/>
              </a:defRPr>
            </a:lvl1pPr>
          </a:lstStyle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666562C-1943-8ACA-16A2-A3EA520696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7726" y="0"/>
            <a:ext cx="163784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8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eau, extérieur, ciel, bateau&#10;&#10;Description générée automatiquement">
            <a:extLst>
              <a:ext uri="{FF2B5EF4-FFF2-40B4-BE49-F238E27FC236}">
                <a16:creationId xmlns:a16="http://schemas.microsoft.com/office/drawing/2014/main" id="{D0DFF6B4-34C8-7CB0-52F5-9831AD6421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91" b="1439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AB45DF7-437F-4CCC-992D-B28E01E4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352"/>
            <a:ext cx="10515600" cy="157807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F17DF1-9E4D-4A72-9E26-9A93C7ED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488428"/>
            <a:ext cx="10515600" cy="1253154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5C2F7-9B67-40DD-A718-7ED48502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99" y="6377374"/>
            <a:ext cx="11887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Nasalization Rg" panose="020B0604020202020204" pitchFamily="34" charset="0"/>
              </a:defRPr>
            </a:lvl1pPr>
          </a:lstStyle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D820B469-B089-2227-BDDD-F6159201E9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4158" y="0"/>
            <a:ext cx="163784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7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b="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E687C7-EBBE-4225-A9DA-F55A15524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07" y="16383"/>
            <a:ext cx="9949584" cy="11377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576EB5-6D16-4E30-948E-EC73F566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321742"/>
            <a:ext cx="11887200" cy="365125"/>
          </a:xfrm>
        </p:spPr>
        <p:txBody>
          <a:bodyPr/>
          <a:lstStyle>
            <a:lvl1pPr>
              <a:defRPr baseline="0">
                <a:latin typeface="Nasalization Rg" panose="020B0604020202020204" pitchFamily="34" charset="0"/>
              </a:defRPr>
            </a:lvl1pPr>
          </a:lstStyle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dirty="0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85C7BB8A-892F-E012-14EF-867BD82F08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01759" y="280440"/>
            <a:ext cx="1637841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3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DB6E9-8884-9235-F7D6-0C8F52AF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19" y="136526"/>
            <a:ext cx="9710530" cy="125726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20C821-633A-8FBF-39E9-F117421438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sz="700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B2393C4-1EA1-EA3E-7B6D-58ADF1FF06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0813" y="1482571"/>
            <a:ext cx="11887200" cy="48028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A06118AE-A965-E043-8F5D-29B3121C26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1448" y="310715"/>
            <a:ext cx="2330551" cy="90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04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nature, objet d’extérieur, ciel nocturne">
            <a:extLst>
              <a:ext uri="{FF2B5EF4-FFF2-40B4-BE49-F238E27FC236}">
                <a16:creationId xmlns:a16="http://schemas.microsoft.com/office/drawing/2014/main" id="{BFF02B75-4E48-8FDB-497B-5B625FDDCF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4" r="195"/>
          <a:stretch/>
        </p:blipFill>
        <p:spPr>
          <a:xfrm>
            <a:off x="8424000" y="0"/>
            <a:ext cx="3744273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DD74E16-50CB-25A2-99AC-9E07C81D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19" y="136526"/>
            <a:ext cx="6350878" cy="125726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A6C034-D379-EFAE-62C0-7AAB8BDB60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4812438" y="3246438"/>
            <a:ext cx="6857999" cy="365125"/>
          </a:xfrm>
        </p:spPr>
        <p:txBody>
          <a:bodyPr/>
          <a:lstStyle/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sz="70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57808C1-3E49-AAA7-97FF-1B2F05C45C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0813" y="1465263"/>
            <a:ext cx="7907337" cy="53260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F57B36C9-F131-EF68-7077-5371012C30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8839" y="417486"/>
            <a:ext cx="1782994" cy="69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0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iel nocturne&#10;&#10;Description générée automatiquement">
            <a:extLst>
              <a:ext uri="{FF2B5EF4-FFF2-40B4-BE49-F238E27FC236}">
                <a16:creationId xmlns:a16="http://schemas.microsoft.com/office/drawing/2014/main" id="{2859F9F6-E852-D197-87EA-07CB47D5B2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07"/>
          <a:stretch/>
        </p:blipFill>
        <p:spPr>
          <a:xfrm flipH="1">
            <a:off x="4922" y="0"/>
            <a:ext cx="3739078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DD74E16-50CB-25A2-99AC-9E07C81D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800" y="136526"/>
            <a:ext cx="6351602" cy="125726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A6C034-D379-EFAE-62C0-7AAB8BDB60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 flipV="1">
            <a:off x="497563" y="3246437"/>
            <a:ext cx="6857999" cy="365125"/>
          </a:xfrm>
        </p:spPr>
        <p:txBody>
          <a:bodyPr/>
          <a:lstStyle/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sz="700" dirty="0"/>
          </a:p>
        </p:txBody>
      </p:sp>
      <p:sp>
        <p:nvSpPr>
          <p:cNvPr id="7" name="Espace réservé du contenu 7">
            <a:extLst>
              <a:ext uri="{FF2B5EF4-FFF2-40B4-BE49-F238E27FC236}">
                <a16:creationId xmlns:a16="http://schemas.microsoft.com/office/drawing/2014/main" id="{EBBCA132-6C3A-1365-7897-8A5DF32ABA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133419" y="1473696"/>
            <a:ext cx="7907337" cy="53260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9DBF961-1E8C-CC53-9E5C-2EAF6E510A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6509" y="390144"/>
            <a:ext cx="1970569" cy="7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3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0F78AA5B-AA88-A83A-3A9C-201F871905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24000" y="1"/>
            <a:ext cx="3744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D74E16-50CB-25A2-99AC-9E07C81D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19" y="136526"/>
            <a:ext cx="6350878" cy="125726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A6C034-D379-EFAE-62C0-7AAB8BDB60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4812438" y="3246438"/>
            <a:ext cx="6857999" cy="365125"/>
          </a:xfrm>
        </p:spPr>
        <p:txBody>
          <a:bodyPr/>
          <a:lstStyle/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sz="700" dirty="0"/>
          </a:p>
        </p:txBody>
      </p:sp>
      <p:sp>
        <p:nvSpPr>
          <p:cNvPr id="6" name="Espace réservé du contenu 7">
            <a:extLst>
              <a:ext uri="{FF2B5EF4-FFF2-40B4-BE49-F238E27FC236}">
                <a16:creationId xmlns:a16="http://schemas.microsoft.com/office/drawing/2014/main" id="{C110FEB2-ABA3-2E5D-7780-0C6B9F1B028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0813" y="1465263"/>
            <a:ext cx="7907337" cy="53260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25821C50-C7EA-187D-C322-48069AC0C3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1797" y="310715"/>
            <a:ext cx="2330551" cy="90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1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74E16-50CB-25A2-99AC-9E07C81D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800" y="136526"/>
            <a:ext cx="6375276" cy="125726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A6C034-D379-EFAE-62C0-7AAB8BDB60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 flipV="1">
            <a:off x="497563" y="3246437"/>
            <a:ext cx="6857999" cy="365125"/>
          </a:xfrm>
        </p:spPr>
        <p:txBody>
          <a:bodyPr/>
          <a:lstStyle/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sz="700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156DE1D2-42AD-3E1B-D730-DCDAB1FC86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3744000" cy="6857998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contenu 7">
            <a:extLst>
              <a:ext uri="{FF2B5EF4-FFF2-40B4-BE49-F238E27FC236}">
                <a16:creationId xmlns:a16="http://schemas.microsoft.com/office/drawing/2014/main" id="{7E4E14E3-CB8D-F0F3-83E8-26A74D118D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33419" y="1473696"/>
            <a:ext cx="7907337" cy="53260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D5B44DE-D4DA-8191-6AF4-A2B31D4159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1530" y="414528"/>
            <a:ext cx="1720470" cy="67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2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878EEFD-0523-4F65-A59D-D8C0FA816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19" y="136526"/>
            <a:ext cx="11887200" cy="1257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2BF181-C2D3-408B-81B6-C738B3CB7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919" y="1464816"/>
            <a:ext cx="11887200" cy="4820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DEF7A5-A225-43D1-8AB3-E58E907B7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920" y="6356350"/>
            <a:ext cx="1188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aseline="0">
                <a:solidFill>
                  <a:srgbClr val="1965AD"/>
                </a:solidFill>
                <a:latin typeface="Nasalization Rg" panose="020B0604020202020204" pitchFamily="34" charset="0"/>
              </a:defRPr>
            </a:lvl1pPr>
          </a:lstStyle>
          <a:p>
            <a:r>
              <a:rPr lang="fr-FR" dirty="0">
                <a:ea typeface="Segoe UI Black"/>
              </a:rPr>
              <a:t>BARCELONE – BERLIN – BORDEAUX – BRUXELLES – COTONOU – LA REUNION - LILLE – LYON – MARSEILLE – MONTPELLIER – NANCY – NANTES – NICE – PARIS – RENNES – SAINT-ANDRE – STRASBOURG –  TOULOUSE</a:t>
            </a:r>
            <a:endParaRPr lang="fr-FR" sz="700" dirty="0"/>
          </a:p>
        </p:txBody>
      </p:sp>
    </p:spTree>
    <p:extLst>
      <p:ext uri="{BB962C8B-B14F-4D97-AF65-F5344CB8AC3E}">
        <p14:creationId xmlns:p14="http://schemas.microsoft.com/office/powerpoint/2010/main" val="5891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1" r:id="rId4"/>
    <p:sldLayoutId id="2147483654" r:id="rId5"/>
    <p:sldLayoutId id="2147483655" r:id="rId6"/>
    <p:sldLayoutId id="2147483658" r:id="rId7"/>
    <p:sldLayoutId id="2147483657" r:id="rId8"/>
    <p:sldLayoutId id="2147483656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baseline="0" dirty="0">
          <a:solidFill>
            <a:srgbClr val="0069B4"/>
          </a:solidFill>
          <a:latin typeface="Nasalization Rg" panose="020B0604020202020204" pitchFamily="34" charset="0"/>
          <a:ea typeface="Segoe UI Black" panose="020B0A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1" u="sng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slideserve.com/iona/the-georgetown-ibm-experiment-demonstrated-in-january-1954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965A-25E3-1F5B-C2AB-D1DFDFDD4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T-DEV-810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93AC7E-6466-E0D1-B648-46C7343910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Zoidberg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383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9E0711-FF99-403B-1325-C68669B5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5F351B-86A5-BD3B-6F67-F905E432F41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Very wide / unprecise definition</a:t>
            </a:r>
          </a:p>
          <a:p>
            <a:r>
              <a:rPr lang="en-US" dirty="0"/>
              <a:t>“The computational part of the ability to achieve goals in the world.“ </a:t>
            </a:r>
            <a:r>
              <a:rPr lang="en-US" b="0" i="1" dirty="0"/>
              <a:t>(McCarthy)</a:t>
            </a:r>
          </a:p>
          <a:p>
            <a:r>
              <a:rPr lang="en-US" dirty="0"/>
              <a:t>“The ability to solve hard problems” </a:t>
            </a:r>
            <a:r>
              <a:rPr lang="en-US" b="0" i="1" dirty="0"/>
              <a:t>(Marvin Minsky)</a:t>
            </a:r>
          </a:p>
          <a:p>
            <a:endParaRPr lang="en-US" b="0" i="1" dirty="0"/>
          </a:p>
          <a:p>
            <a:r>
              <a:rPr lang="en-US" dirty="0"/>
              <a:t>Human-like tasks</a:t>
            </a:r>
          </a:p>
          <a:p>
            <a:r>
              <a:rPr lang="en-US" dirty="0"/>
              <a:t>Problems without clear algorithms</a:t>
            </a:r>
          </a:p>
          <a:p>
            <a:r>
              <a:rPr lang="en-US" dirty="0"/>
              <a:t>Or too complex (NP) to be solved for large data</a:t>
            </a:r>
          </a:p>
          <a:p>
            <a:pPr lvl="1"/>
            <a:r>
              <a:rPr lang="en-US" dirty="0"/>
              <a:t>AI can find an </a:t>
            </a:r>
            <a:r>
              <a:rPr lang="en-US" i="1" u="sng" dirty="0"/>
              <a:t>APPROXIMATE</a:t>
            </a:r>
            <a:r>
              <a:rPr lang="en-US" dirty="0"/>
              <a:t> solution, </a:t>
            </a:r>
            <a:r>
              <a:rPr lang="en-US" i="1" u="sng" dirty="0"/>
              <a:t>statistically</a:t>
            </a:r>
            <a:r>
              <a:rPr lang="en-US" dirty="0"/>
              <a:t> correct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46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E01030-C4D6-E030-3FCC-96D0FDD3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 technologies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98FC35-23CC-7C1D-E2AF-3BCCCA344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44" y="1119361"/>
            <a:ext cx="5355388" cy="517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égende : flèche vers la gauche 4">
            <a:extLst>
              <a:ext uri="{FF2B5EF4-FFF2-40B4-BE49-F238E27FC236}">
                <a16:creationId xmlns:a16="http://schemas.microsoft.com/office/drawing/2014/main" id="{046BA5A2-834D-3F9F-1E39-027DEDD6552B}"/>
              </a:ext>
            </a:extLst>
          </p:cNvPr>
          <p:cNvSpPr/>
          <p:nvPr/>
        </p:nvSpPr>
        <p:spPr>
          <a:xfrm>
            <a:off x="4485888" y="1245703"/>
            <a:ext cx="6818216" cy="113092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44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Expert systems</a:t>
            </a:r>
            <a:br>
              <a:rPr lang="fr-FR" dirty="0"/>
            </a:br>
            <a:r>
              <a:rPr lang="en-GB" sz="1800" dirty="0"/>
              <a:t>rule inference (forest of« if »), knowledge base</a:t>
            </a:r>
            <a:br>
              <a:rPr lang="en-GB" sz="1800" dirty="0"/>
            </a:br>
            <a:r>
              <a:rPr lang="en-GB" sz="1800" dirty="0"/>
              <a:t>deduction from facts</a:t>
            </a:r>
          </a:p>
          <a:p>
            <a:pPr algn="ctr"/>
            <a:r>
              <a:rPr lang="en-GB" b="1" dirty="0"/>
              <a:t>Heuristic</a:t>
            </a:r>
            <a:r>
              <a:rPr lang="en-GB" dirty="0"/>
              <a:t> added to algorithms</a:t>
            </a:r>
          </a:p>
        </p:txBody>
      </p:sp>
      <p:sp>
        <p:nvSpPr>
          <p:cNvPr id="6" name="Légende : flèche vers la gauche 5">
            <a:extLst>
              <a:ext uri="{FF2B5EF4-FFF2-40B4-BE49-F238E27FC236}">
                <a16:creationId xmlns:a16="http://schemas.microsoft.com/office/drawing/2014/main" id="{F70C3264-7620-FE26-07B8-56ECA1872E1A}"/>
              </a:ext>
            </a:extLst>
          </p:cNvPr>
          <p:cNvSpPr/>
          <p:nvPr/>
        </p:nvSpPr>
        <p:spPr>
          <a:xfrm>
            <a:off x="4485888" y="2771971"/>
            <a:ext cx="6818216" cy="1389212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344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Machine learning (ML)</a:t>
            </a:r>
            <a:br>
              <a:rPr lang="en-GB" dirty="0"/>
            </a:br>
            <a:r>
              <a:rPr lang="en-GB" sz="1800" dirty="0"/>
              <a:t>no predefined rules / knowledge</a:t>
            </a:r>
            <a:br>
              <a:rPr lang="en-GB" sz="1800" dirty="0"/>
            </a:br>
            <a:r>
              <a:rPr lang="en-GB" sz="1800" dirty="0"/>
              <a:t>Computer “learn” from examples or experience</a:t>
            </a:r>
            <a:br>
              <a:rPr lang="en-GB" sz="1800" dirty="0"/>
            </a:br>
            <a:r>
              <a:rPr lang="en-GB" sz="1800" dirty="0" err="1"/>
              <a:t>kNN</a:t>
            </a:r>
            <a:r>
              <a:rPr lang="en-GB" sz="1800" dirty="0"/>
              <a:t>, SVM, Bayes</a:t>
            </a:r>
          </a:p>
          <a:p>
            <a:pPr algn="ctr"/>
            <a:endParaRPr lang="en-GB" dirty="0"/>
          </a:p>
        </p:txBody>
      </p:sp>
      <p:sp>
        <p:nvSpPr>
          <p:cNvPr id="7" name="Légende : flèche vers la gauche 6">
            <a:extLst>
              <a:ext uri="{FF2B5EF4-FFF2-40B4-BE49-F238E27FC236}">
                <a16:creationId xmlns:a16="http://schemas.microsoft.com/office/drawing/2014/main" id="{FFE004E6-A389-50A2-455F-35E4D873B62D}"/>
              </a:ext>
            </a:extLst>
          </p:cNvPr>
          <p:cNvSpPr/>
          <p:nvPr/>
        </p:nvSpPr>
        <p:spPr>
          <a:xfrm>
            <a:off x="4485888" y="4695806"/>
            <a:ext cx="6818216" cy="1130926"/>
          </a:xfrm>
          <a:prstGeom prst="leftArrowCallout">
            <a:avLst>
              <a:gd name="adj1" fmla="val 20534"/>
              <a:gd name="adj2" fmla="val 25000"/>
              <a:gd name="adj3" fmla="val 25000"/>
              <a:gd name="adj4" fmla="val 8344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Deep Learning</a:t>
            </a:r>
            <a:br>
              <a:rPr lang="en-GB" b="1" dirty="0"/>
            </a:br>
            <a:r>
              <a:rPr lang="en-GB" sz="1800" dirty="0"/>
              <a:t>One technology of ML among other</a:t>
            </a:r>
            <a:br>
              <a:rPr lang="en-GB" sz="1800" dirty="0"/>
            </a:br>
            <a:r>
              <a:rPr lang="en-GB" sz="1800" dirty="0"/>
              <a:t>(Deep) neural network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2417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5DAF5-ED4C-5B4A-E595-082E2B0A4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winter(s)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7EBE10-DADF-4F81-B4E7-8590AFD2F21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AI as an academic discipline : mid 50s</a:t>
            </a:r>
          </a:p>
          <a:p>
            <a:r>
              <a:rPr lang="en-GB" dirty="0"/>
              <a:t>Perceptron (1</a:t>
            </a:r>
            <a:r>
              <a:rPr lang="en-GB" baseline="30000" dirty="0"/>
              <a:t>st</a:t>
            </a:r>
            <a:r>
              <a:rPr lang="en-GB" dirty="0"/>
              <a:t> neural network) : </a:t>
            </a:r>
            <a:br>
              <a:rPr lang="en-GB" dirty="0"/>
            </a:br>
            <a:r>
              <a:rPr lang="en-GB" dirty="0"/>
              <a:t>	invented 1943, implementation 1958</a:t>
            </a:r>
          </a:p>
          <a:p>
            <a:r>
              <a:rPr lang="en-GB" dirty="0"/>
              <a:t>Neural network mostly abandoned in early 70s</a:t>
            </a:r>
          </a:p>
          <a:p>
            <a:endParaRPr lang="en-GB" dirty="0"/>
          </a:p>
          <a:p>
            <a:r>
              <a:rPr lang="en-GB" dirty="0"/>
              <a:t>Recent changes :</a:t>
            </a:r>
            <a:br>
              <a:rPr lang="en-GB" dirty="0"/>
            </a:br>
            <a:r>
              <a:rPr lang="en-GB" dirty="0"/>
              <a:t>	far more complex NN (“deep”)</a:t>
            </a:r>
            <a:br>
              <a:rPr lang="en-GB" dirty="0"/>
            </a:br>
            <a:r>
              <a:rPr lang="en-GB" dirty="0"/>
              <a:t>	explosion of available data for training</a:t>
            </a:r>
          </a:p>
        </p:txBody>
      </p:sp>
    </p:spTree>
    <p:extLst>
      <p:ext uri="{BB962C8B-B14F-4D97-AF65-F5344CB8AC3E}">
        <p14:creationId xmlns:p14="http://schemas.microsoft.com/office/powerpoint/2010/main" val="218354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5DAF5-ED4C-5B4A-E595-082E2B0A4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winter(s)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7EBE10-DADF-4F81-B4E7-8590AFD2F21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1954 : Georgetown U / IBM demo of automatic translator</a:t>
            </a:r>
          </a:p>
          <a:p>
            <a:pPr lvl="1"/>
            <a:r>
              <a:rPr lang="en-GB" dirty="0"/>
              <a:t>On IBM 701 high end machine (RAM = 2K x 36 bits…), 2000 multiplication/s</a:t>
            </a:r>
          </a:p>
          <a:p>
            <a:pPr lvl="1"/>
            <a:r>
              <a:rPr lang="en-US" dirty="0">
                <a:hlinkClick r:id="rId2"/>
              </a:rPr>
              <a:t>PPT - The Georgetown-IBM experiment demonstrated in January 1954 PowerPoint Presentation - ID:3967861 (slideserve.com)</a:t>
            </a:r>
            <a:endParaRPr lang="en-GB" dirty="0"/>
          </a:p>
          <a:p>
            <a:r>
              <a:rPr lang="en-GB" dirty="0"/>
              <a:t>Researcher states that usable translator could be developed within 5 years</a:t>
            </a:r>
          </a:p>
          <a:p>
            <a:pPr lvl="1"/>
            <a:r>
              <a:rPr lang="en-GB" dirty="0"/>
              <a:t>Massive funding</a:t>
            </a:r>
          </a:p>
          <a:p>
            <a:r>
              <a:rPr lang="en-GB" dirty="0"/>
              <a:t>ALPAC</a:t>
            </a:r>
          </a:p>
          <a:p>
            <a:pPr lvl="1"/>
            <a:r>
              <a:rPr lang="en-GB" dirty="0"/>
              <a:t>1964-66 : Congress committee evaluates (lack of) progress ; Very negative conclusions </a:t>
            </a:r>
          </a:p>
          <a:p>
            <a:pPr marL="0" indent="0" algn="ctr">
              <a:buNone/>
            </a:pPr>
            <a:r>
              <a:rPr lang="en-US" sz="2000" i="1" dirty="0"/>
              <a:t>any resemblance to self-driving cars that will be available in 5 years is pure coincidence</a:t>
            </a:r>
            <a:r>
              <a:rPr lang="en-GB" sz="2000" i="1" dirty="0"/>
              <a:t> </a:t>
            </a:r>
          </a:p>
        </p:txBody>
      </p:sp>
      <p:pic>
        <p:nvPicPr>
          <p:cNvPr id="7" name="Image 6" descr="Une image contenant texte, ordinateur&#10;&#10;Description générée automatiquement">
            <a:extLst>
              <a:ext uri="{FF2B5EF4-FFF2-40B4-BE49-F238E27FC236}">
                <a16:creationId xmlns:a16="http://schemas.microsoft.com/office/drawing/2014/main" id="{81655735-D1BF-12FC-DEAF-BF33E2172E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6" r="10279"/>
          <a:stretch/>
        </p:blipFill>
        <p:spPr>
          <a:xfrm>
            <a:off x="0" y="4034972"/>
            <a:ext cx="3918858" cy="22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27382-9BEF-CEF8-E463-D19B3544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18B6A7-B93C-CF51-F7C2-1165E0B965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Supervised learning</a:t>
            </a:r>
          </a:p>
          <a:p>
            <a:pPr lvl="1"/>
            <a:r>
              <a:rPr lang="en-GB" dirty="0"/>
              <a:t>You learned to distinguish cats and dogs because your parents told you this is a dog/cat</a:t>
            </a:r>
          </a:p>
          <a:p>
            <a:r>
              <a:rPr lang="en-GB" dirty="0"/>
              <a:t>Unsupervised learning</a:t>
            </a:r>
          </a:p>
          <a:p>
            <a:pPr lvl="1"/>
            <a:r>
              <a:rPr lang="en-GB" dirty="0"/>
              <a:t>You should be able to sort a card game in </a:t>
            </a:r>
          </a:p>
          <a:p>
            <a:r>
              <a:rPr lang="en-GB" dirty="0"/>
              <a:t>Reinforcement learning</a:t>
            </a:r>
          </a:p>
          <a:p>
            <a:pPr lvl="1"/>
            <a:r>
              <a:rPr lang="en-GB" dirty="0"/>
              <a:t>How a dog learn a trick (rewards when expected behaviour)</a:t>
            </a:r>
          </a:p>
        </p:txBody>
      </p:sp>
    </p:spTree>
    <p:extLst>
      <p:ext uri="{BB962C8B-B14F-4D97-AF65-F5344CB8AC3E}">
        <p14:creationId xmlns:p14="http://schemas.microsoft.com/office/powerpoint/2010/main" val="313273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27382-9BEF-CEF8-E463-D19B3544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18B6A7-B93C-CF51-F7C2-1165E0B965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Labelled data</a:t>
            </a:r>
          </a:p>
          <a:p>
            <a:pPr lvl="1"/>
            <a:r>
              <a:rPr lang="en-GB" dirty="0"/>
              <a:t>Not always available</a:t>
            </a:r>
          </a:p>
          <a:p>
            <a:pPr lvl="1"/>
            <a:r>
              <a:rPr lang="en-GB" dirty="0"/>
              <a:t>Costly to produce</a:t>
            </a:r>
          </a:p>
          <a:p>
            <a:r>
              <a:rPr lang="en-GB" dirty="0"/>
              <a:t>Dataset quality</a:t>
            </a:r>
          </a:p>
          <a:p>
            <a:pPr lvl="1"/>
            <a:r>
              <a:rPr lang="en-GB" dirty="0"/>
              <a:t>Ex: MS Chat Bot that became racist</a:t>
            </a:r>
          </a:p>
          <a:p>
            <a:r>
              <a:rPr lang="en-GB" dirty="0"/>
              <a:t>Dataset size</a:t>
            </a:r>
          </a:p>
          <a:p>
            <a:r>
              <a:rPr lang="en-GB" dirty="0"/>
              <a:t>Always reserve part of dataset to evaluate mode</a:t>
            </a:r>
          </a:p>
          <a:p>
            <a:pPr lvl="1"/>
            <a:r>
              <a:rPr lang="en-GB" dirty="0"/>
              <a:t>Model should be evaluated on “new” data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80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37AC2-9317-C2B7-3157-83637EA6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ECE0AE-F059-7FCE-645E-2716AD9C1E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Input = features</a:t>
            </a:r>
          </a:p>
          <a:p>
            <a:r>
              <a:rPr lang="en-GB" dirty="0"/>
              <a:t>Output = class (or probability)</a:t>
            </a:r>
          </a:p>
          <a:p>
            <a:r>
              <a:rPr lang="en-GB" dirty="0"/>
              <a:t>Images</a:t>
            </a:r>
            <a:br>
              <a:rPr lang="en-GB" dirty="0"/>
            </a:br>
            <a:r>
              <a:rPr lang="en-GB" dirty="0"/>
              <a:t>	</a:t>
            </a:r>
            <a:r>
              <a:rPr lang="en-GB" b="0" dirty="0"/>
              <a:t>- each pixel is a feature</a:t>
            </a:r>
            <a:br>
              <a:rPr lang="en-GB" b="0" dirty="0"/>
            </a:br>
            <a:r>
              <a:rPr lang="en-GB" b="0" dirty="0"/>
              <a:t>	- or complex </a:t>
            </a:r>
            <a:r>
              <a:rPr lang="en-GB" b="0" dirty="0" err="1"/>
              <a:t>pré</a:t>
            </a:r>
            <a:r>
              <a:rPr lang="en-GB" b="0" dirty="0"/>
              <a:t>-processing</a:t>
            </a:r>
            <a:br>
              <a:rPr lang="en-GB" b="0" dirty="0"/>
            </a:br>
            <a:r>
              <a:rPr lang="en-GB" b="0" dirty="0"/>
              <a:t>	  (features = texture element)</a:t>
            </a:r>
          </a:p>
          <a:p>
            <a:r>
              <a:rPr lang="en-GB" dirty="0"/>
              <a:t>Most models : list of features (order is not related to image structure)</a:t>
            </a:r>
          </a:p>
          <a:p>
            <a:r>
              <a:rPr lang="en-GB" dirty="0"/>
              <a:t>Some model take 2D aspect into account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8488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37AC2-9317-C2B7-3157-83637EA6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ECE0AE-F059-7FCE-645E-2716AD9C1E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Model gives approximation of reality</a:t>
            </a:r>
          </a:p>
          <a:p>
            <a:r>
              <a:rPr lang="en-GB" dirty="0"/>
              <a:t>Is this approximation correct ?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Unknown.png" descr="Unknown.png">
            <a:extLst>
              <a:ext uri="{FF2B5EF4-FFF2-40B4-BE49-F238E27FC236}">
                <a16:creationId xmlns:a16="http://schemas.microsoft.com/office/drawing/2014/main" id="{C9C97B88-405A-0D8A-D3F2-2E57C64E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358" y="3576680"/>
            <a:ext cx="8940785" cy="268879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5123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5DAC03-1A7B-3354-19D6-BD262BEE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T-DEV-810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81E7F-DF11-886A-11B5-B98F2CAC876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Experiment several techniques (</a:t>
            </a:r>
            <a:r>
              <a:rPr lang="en-GB" dirty="0" err="1"/>
              <a:t>preprocessing</a:t>
            </a:r>
            <a:r>
              <a:rPr lang="en-GB" dirty="0"/>
              <a:t>, models, etc...)</a:t>
            </a:r>
          </a:p>
          <a:p>
            <a:r>
              <a:rPr lang="en-GB" dirty="0"/>
              <a:t>Compare them</a:t>
            </a:r>
          </a:p>
          <a:p>
            <a:r>
              <a:rPr lang="en-GB" dirty="0"/>
              <a:t>Need metrics to compare </a:t>
            </a:r>
          </a:p>
          <a:p>
            <a:r>
              <a:rPr lang="en-GB" dirty="0"/>
              <a:t>Which metrics are meaningful ??</a:t>
            </a:r>
          </a:p>
        </p:txBody>
      </p:sp>
      <p:pic>
        <p:nvPicPr>
          <p:cNvPr id="4" name="Unknown.jpeg" descr="Unknown.jpeg">
            <a:extLst>
              <a:ext uri="{FF2B5EF4-FFF2-40B4-BE49-F238E27FC236}">
                <a16:creationId xmlns:a16="http://schemas.microsoft.com/office/drawing/2014/main" id="{AB5214C3-B1BB-067E-785B-2C94DC8B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19" y="5104254"/>
            <a:ext cx="2373327" cy="124791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Unknown.jpeg" descr="Unknown.jpeg">
            <a:extLst>
              <a:ext uri="{FF2B5EF4-FFF2-40B4-BE49-F238E27FC236}">
                <a16:creationId xmlns:a16="http://schemas.microsoft.com/office/drawing/2014/main" id="{6E9A3E52-A0BD-E646-D213-9148AA4DC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180" y="4678171"/>
            <a:ext cx="2373327" cy="177770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vs">
            <a:extLst>
              <a:ext uri="{FF2B5EF4-FFF2-40B4-BE49-F238E27FC236}">
                <a16:creationId xmlns:a16="http://schemas.microsoft.com/office/drawing/2014/main" id="{1B460503-F6B3-9756-7482-43037DA2A9AA}"/>
              </a:ext>
            </a:extLst>
          </p:cNvPr>
          <p:cNvSpPr txBox="1"/>
          <p:nvPr/>
        </p:nvSpPr>
        <p:spPr>
          <a:xfrm>
            <a:off x="3699655" y="5237182"/>
            <a:ext cx="809652" cy="969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96949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85AA2E-D450-B850-A832-3FFB16E4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Explainable 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7736BD-23D1-33D8-1CD6-2DFE70F82F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How does your AI “takes decision” ?</a:t>
            </a:r>
          </a:p>
          <a:p>
            <a:r>
              <a:rPr lang="en-GB" dirty="0"/>
              <a:t>Can you explain it ?</a:t>
            </a:r>
          </a:p>
          <a:p>
            <a:r>
              <a:rPr lang="en-GB" dirty="0"/>
              <a:t>Which features are important ?</a:t>
            </a:r>
          </a:p>
        </p:txBody>
      </p:sp>
    </p:spTree>
    <p:extLst>
      <p:ext uri="{BB962C8B-B14F-4D97-AF65-F5344CB8AC3E}">
        <p14:creationId xmlns:p14="http://schemas.microsoft.com/office/powerpoint/2010/main" val="3667985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85AA2E-D450-B850-A832-3FFB16E4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7736BD-23D1-33D8-1CD6-2DFE70F82F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Are all elements of data relevant ? (</a:t>
            </a:r>
            <a:r>
              <a:rPr lang="en-GB" dirty="0" err="1"/>
              <a:t>preprocessing</a:t>
            </a:r>
            <a:r>
              <a:rPr lang="en-GB" dirty="0"/>
              <a:t>)</a:t>
            </a:r>
          </a:p>
          <a:p>
            <a:r>
              <a:rPr lang="en-GB" dirty="0"/>
              <a:t>Not all methods are equal, some consume more resources </a:t>
            </a:r>
          </a:p>
          <a:p>
            <a:pPr lvl="1"/>
            <a:r>
              <a:rPr lang="en-GB" dirty="0"/>
              <a:t>NN are not always the best option</a:t>
            </a:r>
          </a:p>
          <a:p>
            <a:pPr lvl="1"/>
            <a:r>
              <a:rPr lang="en-GB" dirty="0"/>
              <a:t>In many cases, training is resource intensive</a:t>
            </a:r>
          </a:p>
          <a:p>
            <a:r>
              <a:rPr lang="en-GB" dirty="0"/>
              <a:t>Which features are important ?</a:t>
            </a:r>
          </a:p>
          <a:p>
            <a:r>
              <a:rPr lang="en-GB" dirty="0"/>
              <a:t>Not all data can be processed at the same time (batch)</a:t>
            </a:r>
          </a:p>
        </p:txBody>
      </p:sp>
    </p:spTree>
    <p:extLst>
      <p:ext uri="{BB962C8B-B14F-4D97-AF65-F5344CB8AC3E}">
        <p14:creationId xmlns:p14="http://schemas.microsoft.com/office/powerpoint/2010/main" val="2322567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6C756-17C4-B8D8-2E64-39025B24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the project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94C93C-9520-FBC2-ED1B-0CD7D933C56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Research spirit</a:t>
            </a:r>
          </a:p>
          <a:p>
            <a:r>
              <a:rPr lang="en-GB" dirty="0" err="1"/>
              <a:t>Jupyter</a:t>
            </a:r>
            <a:r>
              <a:rPr lang="en-GB" dirty="0"/>
              <a:t> notebooks</a:t>
            </a:r>
          </a:p>
          <a:p>
            <a:pPr lvl="1"/>
            <a:r>
              <a:rPr lang="en-GB" dirty="0"/>
              <a:t>VS Code handle them nicely</a:t>
            </a:r>
          </a:p>
          <a:p>
            <a:pPr lvl="1"/>
            <a:r>
              <a:rPr lang="en-GB" dirty="0"/>
              <a:t>With texts, graphs, etc….</a:t>
            </a:r>
          </a:p>
          <a:p>
            <a:r>
              <a:rPr lang="en-GB" dirty="0"/>
              <a:t>Many resources on image classification</a:t>
            </a:r>
          </a:p>
          <a:p>
            <a:r>
              <a:rPr lang="en-GB" dirty="0"/>
              <a:t>Cite your sources</a:t>
            </a:r>
          </a:p>
          <a:p>
            <a:r>
              <a:rPr lang="en-GB" u="sng" dirty="0"/>
              <a:t>Experiment</a:t>
            </a:r>
            <a:r>
              <a:rPr lang="en-GB" dirty="0"/>
              <a:t> several models </a:t>
            </a:r>
          </a:p>
          <a:p>
            <a:pPr lvl="1"/>
            <a:r>
              <a:rPr lang="en-GB" dirty="0"/>
              <a:t>not only NN</a:t>
            </a:r>
          </a:p>
          <a:p>
            <a:pPr lvl="1"/>
            <a:r>
              <a:rPr lang="en-GB" dirty="0"/>
              <a:t>And several options, pre-processing, etc…</a:t>
            </a:r>
          </a:p>
          <a:p>
            <a:r>
              <a:rPr lang="en-GB" dirty="0"/>
              <a:t>Graphical representation is always better</a:t>
            </a:r>
          </a:p>
          <a:p>
            <a:r>
              <a:rPr lang="en-GB" dirty="0"/>
              <a:t>Results MUST be analysed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4407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25EA0E-A37D-4140-A3A9-2B8492C5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 ?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F733E4-C88D-B270-20A2-B5FAE9997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104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ersonnalisé 1">
      <a:majorFont>
        <a:latin typeface="Nasalization Rg"/>
        <a:ea typeface=""/>
        <a:cs typeface=""/>
      </a:majorFont>
      <a:minorFont>
        <a:latin typeface="Nasalization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EAFD216E40A4FBDAEF7BAB8E97962" ma:contentTypeVersion="14" ma:contentTypeDescription="Crée un document." ma:contentTypeScope="" ma:versionID="c1a71aa7e813855d8616f5227c5e5b78">
  <xsd:schema xmlns:xsd="http://www.w3.org/2001/XMLSchema" xmlns:xs="http://www.w3.org/2001/XMLSchema" xmlns:p="http://schemas.microsoft.com/office/2006/metadata/properties" xmlns:ns2="59f7eee2-20fe-4146-a991-d7d31438d39c" xmlns:ns3="7682aaa5-07eb-4758-b692-8ea53b9f5b54" targetNamespace="http://schemas.microsoft.com/office/2006/metadata/properties" ma:root="true" ma:fieldsID="0fae16e34168364cd6048bb57d29728b" ns2:_="" ns3:_="">
    <xsd:import namespace="59f7eee2-20fe-4146-a991-d7d31438d39c"/>
    <xsd:import namespace="7682aaa5-07eb-4758-b692-8ea53b9f5b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f7eee2-20fe-4146-a991-d7d31438d3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2aaa5-07eb-4758-b692-8ea53b9f5b5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34364fe-536b-4cf5-8d11-9591bb2d4efa}" ma:internalName="TaxCatchAll" ma:showField="CatchAllData" ma:web="7682aaa5-07eb-4758-b692-8ea53b9f5b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682aaa5-07eb-4758-b692-8ea53b9f5b54">
      <UserInfo>
        <DisplayName>Albane Redon</DisplayName>
        <AccountId>599</AccountId>
        <AccountType/>
      </UserInfo>
    </SharedWithUsers>
    <TaxCatchAll xmlns="7682aaa5-07eb-4758-b692-8ea53b9f5b54" xsi:nil="true"/>
    <lcf76f155ced4ddcb4097134ff3c332f xmlns="59f7eee2-20fe-4146-a991-d7d31438d3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72583E2-BC48-45ED-AD31-27FDD11414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f7eee2-20fe-4146-a991-d7d31438d39c"/>
    <ds:schemaRef ds:uri="7682aaa5-07eb-4758-b692-8ea53b9f5b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A1AFE8-62C4-43A8-95A9-8037573110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757B5F-865D-4727-9644-B1F82A189DF6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59f7eee2-20fe-4146-a991-d7d31438d39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682aaa5-07eb-4758-b692-8ea53b9f5b5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587</Words>
  <Application>Microsoft Macintosh PowerPoint</Application>
  <PresentationFormat>Grand écran</PresentationFormat>
  <Paragraphs>86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Nasalization Rg</vt:lpstr>
      <vt:lpstr>Segoe UI Black</vt:lpstr>
      <vt:lpstr>Thème Office</vt:lpstr>
      <vt:lpstr>T-DEV-810</vt:lpstr>
      <vt:lpstr>Artificial Intelligence</vt:lpstr>
      <vt:lpstr>Many technologies</vt:lpstr>
      <vt:lpstr>AI winter(s)</vt:lpstr>
      <vt:lpstr>AI winter(s)</vt:lpstr>
      <vt:lpstr>Machine learning</vt:lpstr>
      <vt:lpstr>Supervised Learning</vt:lpstr>
      <vt:lpstr>Classification</vt:lpstr>
      <vt:lpstr>Classification</vt:lpstr>
      <vt:lpstr>T-DEV-810</vt:lpstr>
      <vt:lpstr>Explainable AI</vt:lpstr>
      <vt:lpstr>Large Data</vt:lpstr>
      <vt:lpstr>Back to the project</vt:lpstr>
      <vt:lpstr>Any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Virginie Jarrier</dc:creator>
  <cp:lastModifiedBy>Daniel Braun</cp:lastModifiedBy>
  <cp:revision>31</cp:revision>
  <dcterms:created xsi:type="dcterms:W3CDTF">2022-04-04T14:00:50Z</dcterms:created>
  <dcterms:modified xsi:type="dcterms:W3CDTF">2025-03-24T09:28:07Z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0x0101008F5EAFD216E40A4FBDAEF7BAB8E97962</vt:lpwstr>
  </property>
  <property fmtid="{D5CDD505-2E9C-101B-9397-08002B2CF9AE}" pid="3" name="MediaServiceImageTags">
    <vt:lpwstr/>
  </property>
</Properties>
</file>